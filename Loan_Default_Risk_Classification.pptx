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02920"/>
            <a:ext cx="91440" cy="3291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486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BANKING &amp; FINANCE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41248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Risk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27066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 Banking — Predict loan defaults before they happen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55264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3401568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401568"/>
            <a:ext cx="1920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93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895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3401568"/>
            <a:ext cx="1920240" cy="82296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3401568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493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14600" y="3895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3401568"/>
            <a:ext cx="192024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3401568"/>
            <a:ext cx="192024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493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3895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3401568"/>
            <a:ext cx="192024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3401568"/>
            <a:ext cx="1920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4930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20840" y="38953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754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github.com/nivedhpdds25/Loan-Default-Risk-Classification-ML-Model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42416"/>
            <a:ext cx="41605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42416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338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4712" y="12252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Objectives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416052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10512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01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24712" y="19933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416052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78608"/>
            <a:ext cx="7315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670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4712" y="27614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346704"/>
            <a:ext cx="416052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346704"/>
            <a:ext cx="73152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" y="35295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416052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114800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4712" y="42976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042416"/>
            <a:ext cx="397764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042416"/>
            <a:ext cx="7315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1338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68112" y="12252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3 Models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1810512"/>
            <a:ext cx="3977640" cy="640080"/>
          </a:xfrm>
          <a:prstGeom prst="rect">
            <a:avLst/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810512"/>
            <a:ext cx="73152" cy="6400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19019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68112" y="19933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Comparison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578608"/>
            <a:ext cx="397764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78608"/>
            <a:ext cx="73152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2670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68112" y="27614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Model Explainability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346704"/>
            <a:ext cx="39776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346704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4381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68112" y="35295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&amp;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41605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08176"/>
            <a:ext cx="379476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lose billions annually from loan defaults. The challenge is to build a predictive ML model that identifies high-risk applicants before loan disbursement — minimising credit risk and maximising portfolio health.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397764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24128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1155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1408176"/>
            <a:ext cx="36118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loan applicant as likely to Default (1) or Not Default (0) using historical application data, optimising for Recall — catching real defaulters is costlier than a false alarm.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832104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01752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906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over Accuracy?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33756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(approving a defaulter) → financial loss for the bank.  A False Positive (rejecting a safe applicant) → lost revenue only.  Therefore, we optimise for high Recall on the Default class and tune the decision threshold accordingly.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89888" y="4005072"/>
            <a:ext cx="10515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05456" y="4005072"/>
            <a:ext cx="10515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21024" y="4005072"/>
            <a:ext cx="1051560" cy="2560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4005072"/>
            <a:ext cx="105156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4005072"/>
            <a:ext cx="10515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67728" y="4005072"/>
            <a:ext cx="10515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83296" y="4005072"/>
            <a:ext cx="1051560" cy="2560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3296" y="40233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Home Credit Default Risk  (Kaggle)   |   307,511 loan applications   |   122 raw features   |   Target: 0 = No Default, 1 = Default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384048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 —  91.9%   (282,686 applicants)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6858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3113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—  8.1%   (24,825)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40233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788920"/>
            <a:ext cx="7315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34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(11.4:1 ratio) — addressed 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 on training data and scale_pos_weight in LightGBM.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22192"/>
            <a:ext cx="4023360" cy="210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8770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40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384048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 loan applications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59936"/>
            <a:ext cx="40233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1148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0782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72768" y="4078224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features (65 float, 41 int, 16 object)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297680"/>
            <a:ext cx="4023360" cy="2103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35254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3159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72768" y="431596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535424"/>
            <a:ext cx="402336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59028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2768" y="455371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missingness in property-area columns (up to 70%)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298448"/>
            <a:ext cx="40690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344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3441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645920"/>
            <a:ext cx="4069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17373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6916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AMT_INCOME_TOTAL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91072" y="169164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of applicant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965960"/>
            <a:ext cx="4069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20574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0116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AMT_CREDIT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91072" y="201168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credit amount requested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286000"/>
            <a:ext cx="4069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2377440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3317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AMT_ANNUITY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91072" y="233172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 repayment amount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606040"/>
            <a:ext cx="4069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7448" y="269748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26517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AMT_GOODS_PRICE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91072" y="26517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goods for the loan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2926080"/>
            <a:ext cx="4069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7448" y="301752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29718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DAYS_BIRTH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91072" y="297180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in days (negative = past)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246120"/>
            <a:ext cx="4069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27448" y="33375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2918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91072" y="329184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duration in days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566160"/>
            <a:ext cx="4069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7448" y="36576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361188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EXT_SOURCE_1/2/3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91072" y="361188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credit bureau scores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63440" y="3886200"/>
            <a:ext cx="4069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27448" y="3977640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9319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CNT_FAM_MEMBERS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91072" y="393192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family members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63440" y="4206240"/>
            <a:ext cx="40690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27448" y="429768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42519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NAME_CONTRACT_TYPE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91072" y="42519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loan vs Revolving loan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63440" y="4526280"/>
            <a:ext cx="4069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27448" y="461772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CODE_GENDER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291072" y="457200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gender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" y="1591056"/>
            <a:ext cx="20117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005840"/>
            <a:ext cx="7680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005840"/>
            <a:ext cx="76809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09728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7008" y="137160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 → Median imputation. Categorical columns → Mode imputation. Result: 0 missing values across all 122 features after cleaning.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911096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938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" y="2404872"/>
            <a:ext cx="20117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1819656"/>
            <a:ext cx="7680960" cy="713232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1819656"/>
            <a:ext cx="7680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191109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218541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 in the 307,511-record dataset. Dataset integrity confirmed with no redundant samples.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24912"/>
            <a:ext cx="475488" cy="47548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4320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" y="3218688"/>
            <a:ext cx="20117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2633472"/>
            <a:ext cx="768096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2633472"/>
            <a:ext cx="76809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272491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(Categorical Features)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299923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object-type columns label-encoded using sklearn LabelEncoder. Converts: NAME_CONTRACT_TYPE, CODE_GENDER, FLAG_OWN_CAR, and 13 other categorical features.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53872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5701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" y="4032504"/>
            <a:ext cx="20117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3447288"/>
            <a:ext cx="768096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3447288"/>
            <a:ext cx="7680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353872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High-Correlation Feature Removal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07008" y="381304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matrix computed. Features with |corr| &gt; 0.90 dropped (one from each correlated pair). Reduces multicollinearity and noise.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352544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70832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51560" y="4261104"/>
            <a:ext cx="768096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" y="4261104"/>
            <a:ext cx="76809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435254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07008" y="462686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Logistic Regression pipeline. Zero mean, unit variance scaling. Tree-based models (RF, LightGBM) receive unscaled features.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Plots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4187952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DE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418795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15568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Count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53312"/>
            <a:ext cx="4005072" cy="1353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" y="2761488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 91.9% No Default vs 8.1% Default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17720" y="1024128"/>
            <a:ext cx="4133088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5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024128"/>
            <a:ext cx="413308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111556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 Distribution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53312"/>
            <a:ext cx="3950208" cy="1353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7448" y="276148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peaks — two distinct loan product segments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11480" y="3154680"/>
            <a:ext cx="4187952" cy="1874520"/>
          </a:xfrm>
          <a:prstGeom prst="rect">
            <a:avLst/>
          </a:prstGeom>
          <a:solidFill>
            <a:srgbClr val="F0FDF4"/>
          </a:solidFill>
          <a:ln w="12700">
            <a:solidFill>
              <a:srgbClr val="DDE5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154680"/>
            <a:ext cx="4187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" y="3246120"/>
            <a:ext cx="3968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 vs Default (Boxplot)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83864"/>
            <a:ext cx="4005072" cy="12161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" y="475488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(1) have slightly lower median credit amounts with more outliers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617720" y="3154680"/>
            <a:ext cx="4133088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E5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17720" y="3154680"/>
            <a:ext cx="41330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27448" y="3246120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83864"/>
            <a:ext cx="3950208" cy="12161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27448" y="475488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features highly inter-correlated; EXT_SOURCE stands out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Produced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35024"/>
            <a:ext cx="41148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35024"/>
            <a:ext cx="731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Count Plot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60934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 bar chart — severe 91:9 imbalance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4114800" cy="530352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38528"/>
            <a:ext cx="73152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933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Distribution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21284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histogram with KDE overlay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41148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42032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9689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 Distribution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81635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 across loan amounts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45536"/>
            <a:ext cx="41148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45536"/>
            <a:ext cx="73152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0040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Default (Boxplot)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419856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have slightly lower median income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411480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749040"/>
            <a:ext cx="73152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039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vs Default (Boxplot)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02336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credit amounts slightly more prone to default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352544"/>
            <a:ext cx="4114800" cy="53035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352544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0740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462686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target correlations — ensemble models needed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069080" cy="402336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005840"/>
            <a:ext cx="406908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1155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1389888"/>
            <a:ext cx="3749040" cy="20117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1481328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5179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No Default / 8.1% Default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1728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 → standard accuracy is misleading; need AUC and Recall.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093976"/>
            <a:ext cx="731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130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correlation with target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340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strongly predicts default — ensemble models essential.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706624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EXT_SOURCE_1/2/3 dominate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2953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individual predictors of loan default across all analyses.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319272"/>
            <a:ext cx="7315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3558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right-skewed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applicants earn ≤ 200K; outliers extend to millions.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931920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9684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amounts bimodal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46320" y="4178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peaks suggest distinct loan product segments (personal vs property).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544568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5811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days anomaly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4791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DAYS_EMPLOYED = pensioners; requires capping before modelling.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domain-specific financial features engineered  +  Top 50 selected by Mutual Information from ~120 candidates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38862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09344"/>
            <a:ext cx="3886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1907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CREDIT_INCOME_RATIO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AMT_CREDIT / AMT_INCOME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3886200" cy="713232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414016"/>
            <a:ext cx="38862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237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ANNUITY_INCOME_RATIO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797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AMT_ANNUITY / AMT_INCOME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38862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18688"/>
            <a:ext cx="38862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284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GOODS_CREDIT_RATIO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AMT_GOODS_PRICE / AMT_CREDIT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388620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23360"/>
            <a:ext cx="3886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3308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CREDIT_TERM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AMT_CREDIT / AMT_ANNUITY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2272" y="1609344"/>
            <a:ext cx="388620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1609344"/>
            <a:ext cx="3886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171907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AGE_YEARS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9432" y="19751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-DAYS_BIRTH / 365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62272" y="2414016"/>
            <a:ext cx="3886200" cy="71323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2414016"/>
            <a:ext cx="3886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25237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YEARS_EMPLOYED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99432" y="27797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-DAYS_EMPLOYED / 365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62272" y="3218688"/>
            <a:ext cx="3886200" cy="713232"/>
          </a:xfrm>
          <a:prstGeom prst="rect">
            <a:avLst/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218688"/>
            <a:ext cx="388620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33284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EMPLOYED_TO_AGE_RATIO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35844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YEARS_EMPLOYED / AGE_YEARS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62272" y="4023360"/>
            <a:ext cx="388620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62272" y="4023360"/>
            <a:ext cx="3886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413308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INCOME_PER_PERSON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99432" y="43891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AMT_INCOME / CNT_FAM_MEMBERS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85632" y="1280160"/>
            <a:ext cx="256032" cy="3639312"/>
          </a:xfrm>
          <a:prstGeom prst="rect">
            <a:avLst/>
          </a:prstGeom>
          <a:solidFill>
            <a:srgbClr val="D9770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1280160"/>
            <a:ext cx="3566160" cy="363931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773168"/>
            <a:ext cx="73152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8006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Mutual Information scoring → Top 50 features kept for modelling. High-correlation features (|r| &gt; 0.90) removed first.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trained on SMOTE-balanced training data (307,511 → 80/20 stratified split)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832104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8321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630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1408176"/>
            <a:ext cx="13716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417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1636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required (StandardScaler). Used as baseline interpretable model.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56048" y="1572768"/>
            <a:ext cx="105156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5910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71616" y="1572768"/>
            <a:ext cx="105156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5910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187184" y="1572768"/>
            <a:ext cx="105156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59105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0.1,  solver = lbfgs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2505456"/>
            <a:ext cx="832104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505456"/>
            <a:ext cx="8321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670048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68833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8992" y="2615184"/>
            <a:ext cx="137160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26243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2843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31455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needed. Handles non-linearity well. class_weight balances imbalanced target.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56048" y="2779776"/>
            <a:ext cx="105156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7980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71616" y="2779776"/>
            <a:ext cx="105156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7980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187184" y="2779776"/>
            <a:ext cx="105156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87184" y="27980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 = 50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302752" y="2779776"/>
            <a:ext cx="105156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2752" y="2798064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3712464"/>
            <a:ext cx="8321040" cy="111556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712464"/>
            <a:ext cx="832104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877056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89534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78992" y="3822192"/>
            <a:ext cx="1371600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" y="3831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8992" y="4050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★ Best Model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78992" y="43525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neg/pos = 11.39. Native imbalance handling. Optimised for ROC-AUC.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56048" y="3986784"/>
            <a:ext cx="10515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500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71616" y="3986784"/>
            <a:ext cx="10515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0.05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87184" y="3986784"/>
            <a:ext cx="10515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87184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 = 63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302752" y="3986784"/>
            <a:ext cx="10515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2752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11.39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418320" y="3986784"/>
            <a:ext cx="105156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0" y="400507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 = 50 rounds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5778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424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48840" y="10424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0" y="10424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03320" y="10424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07408" y="10424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47488" y="104241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53312"/>
            <a:ext cx="557784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5361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1536192"/>
            <a:ext cx="692201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7617" y="14813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0" y="14813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14813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07408" y="14813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148132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1920240"/>
            <a:ext cx="5577840" cy="5120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10312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0482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103120"/>
            <a:ext cx="788213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3629" y="2048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86.2%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0" y="20482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03320" y="20482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07408" y="20482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47488" y="20482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2487168"/>
            <a:ext cx="5577840" cy="512064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267004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6151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48840" y="2670048"/>
            <a:ext cx="818388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03804" y="26151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0" y="26151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03320" y="26151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07408" y="26151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261518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127248"/>
            <a:ext cx="557784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127248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200400"/>
            <a:ext cx="5257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— LightGBM (Recall Optimisation)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345643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= 0.50   →   Optimal threshold = 0.1027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0.1027:  Recall = 71.3%  |  Precision = 14.1%  |  No-Default accuracy = 62%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catch most defaulters at the cost of some false positives — acceptable in banking risk management.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1005840"/>
            <a:ext cx="2514600" cy="486460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100584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097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137160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ROC-AUC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1645920"/>
            <a:ext cx="2240280" cy="2011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70078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1700784"/>
            <a:ext cx="73152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17922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0" y="17922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217920" y="215798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2157984"/>
            <a:ext cx="7315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22494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22494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0.7649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261518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2615184"/>
            <a:ext cx="73152" cy="4023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27066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315200" y="27066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217920" y="307238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0" y="3072384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31638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15200" y="31638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0.7624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3529584"/>
            <a:ext cx="2514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3529584"/>
            <a:ext cx="7315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36210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315200" y="362102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0.7537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217920" y="4041648"/>
            <a:ext cx="25146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0" y="4169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Mean:  0.7585  ±  0.0043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11480" y="4069080"/>
            <a:ext cx="55778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4114800"/>
            <a:ext cx="5349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AUC:  Logistic Reg = 0.631  |  Random Forest = 0.735  |  LightGBM = 0.768 ★  |  LightGBM wins on both AUC and Recall.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Model Explainability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— applied on LightGBM for regulatory-grade, model-agnostic explanations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029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7315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624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Summary (Bar)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SHAP values across all 2,000 test samples — ranks features by overall importance.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502920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56816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082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Plot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5856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direction and magnitude of each feature's impact: red = high value increases risk, blue = decreases.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502920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15184"/>
            <a:ext cx="73152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91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Plots (Top 3)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91693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Feature-level: EXT_SOURCE_3, EXT_SOURCE_2, EXT_SOURCE_1 — shows how scores interact with default risk.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273552"/>
            <a:ext cx="502920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73552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37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Force Plot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57530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applicant explanation — which features pushed prediction toward Default vs No Default.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1298448"/>
            <a:ext cx="310896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1298448"/>
            <a:ext cx="3108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1389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16642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2,000 test samples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1920240"/>
            <a:ext cx="2834640" cy="20117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1993392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21031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20482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70448" y="2231136"/>
            <a:ext cx="8686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75704" y="20482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2359152"/>
            <a:ext cx="31089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87568" y="2468880"/>
            <a:ext cx="109728" cy="10972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24140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70448" y="2596896"/>
            <a:ext cx="768995" cy="731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6019" y="241401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23560" y="2724912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87568" y="2834640"/>
            <a:ext cx="109728" cy="10972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27797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70448" y="2962656"/>
            <a:ext cx="633709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0733" y="27797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23560" y="3090672"/>
            <a:ext cx="31089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87568" y="32004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31455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DAYS_BIRTH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70448" y="3328416"/>
            <a:ext cx="505543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2567" y="314553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23560" y="3456432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87568" y="35661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0448" y="3511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AMT_CREDIT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70448" y="3694176"/>
            <a:ext cx="462821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69845" y="35112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23560" y="3822192"/>
            <a:ext cx="31089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87568" y="393192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38770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870448" y="4059936"/>
            <a:ext cx="412979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0003" y="38770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23560" y="4187952"/>
            <a:ext cx="3108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87568" y="429768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0448" y="424281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CREDIT_INCOME_RATIO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70448" y="4425696"/>
            <a:ext cx="370257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7281" y="424281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623560" y="4553712"/>
            <a:ext cx="310896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87568" y="466344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70448" y="46085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AMT_INCOME_TOTAL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870448" y="4791456"/>
            <a:ext cx="313294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20318" y="46085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3986784"/>
            <a:ext cx="5029200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1480" y="3986784"/>
            <a:ext cx="73152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05993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SHAP Matters for Banking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94360" y="42976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regulations (GDPR, Fair Lending) require lenders to explain credit decisions. SHAP provides per-applicant, per-feature attribution — enabling compliant, auditable rejection letters.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— Loan Risk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Quad-Bento dark UI dashboard for real-time loan default risk assessment using the trained LightGBM model.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4178808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98448"/>
            <a:ext cx="417880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2646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Personal Profile Tile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71907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slider (18–85) + Employment Tenure slider (0–50 yrs). Mapped to DAYS_BIRTH and DAYS_EMPLOYED internally.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73168" y="1298448"/>
            <a:ext cx="3959352" cy="1078992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298448"/>
            <a:ext cx="3959352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26464"/>
            <a:ext cx="3666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Financial Data Tile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666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input + Requested Loan Amount input. Used to compute CREDIT_INCOME_RATIO dynamically.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4178808" cy="107899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05456"/>
            <a:ext cx="41788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3347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Credit Scoring Tile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29260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Score A (EXT_SOURCE_2) + Score B (EXT_SOURCE_3) sliders (0.0–1.0). Key default predictors.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3168" y="2505456"/>
            <a:ext cx="3959352" cy="10789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505456"/>
            <a:ext cx="3959352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633472"/>
            <a:ext cx="3666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Final Decision Tile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926080"/>
            <a:ext cx="3666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GENERATE REPORT: shows default probability bar, APPROVED (green) or REJECTED (red) decision badge.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712464"/>
            <a:ext cx="4178808" cy="107899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712464"/>
            <a:ext cx="41788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8404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Dark Bento UI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" y="41330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bg: #0f172a dot-grid. Cards: rgba glassmorphism. Result boxes color-coded by risk level.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3712464"/>
            <a:ext cx="3959352" cy="107899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3712464"/>
            <a:ext cx="395935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40480"/>
            <a:ext cx="3666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Model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133088"/>
            <a:ext cx="36667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lgbm_model.pkl, scaler.pkl, top_features.pkl, threshold.json. Cached with @st.cache_resource.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90118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streamlit run app.py  |  Assets: lgbm_model.pkl  ·  scaler.pkl  ·  top_features.pkl  ·  threshold.json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886968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416052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73152" cy="640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the best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0.768, Recall = 54% at default threshold; 71.3% at optimal threshold 0.1027.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416052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55648"/>
            <a:ext cx="7315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scores dominate predictions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0756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EXT_SOURCE_1/2/3 are the top SHAP predictors — credit bureau data is critical for risk scoring.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416052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05456"/>
            <a:ext cx="73152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is essential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2549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threshold from 0.50 → 0.10 doubles Recall — key for banking's asymmetric error costs.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255264"/>
            <a:ext cx="41605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55264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28416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addressed class imbalance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57530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11.4:1 imbalance corrected via SMOTE + scale_pos_weight; improved minority class detection.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4160520" cy="64008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005072"/>
            <a:ext cx="73152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78224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added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251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domain-specific ratios (CREDIT_INCOME_RATIO, CREDIT_TERM, etc.) improved model signal.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397764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005840"/>
            <a:ext cx="39776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115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1408176"/>
            <a:ext cx="3657600" cy="20117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481328"/>
            <a:ext cx="3977640" cy="58521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170078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15453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CatBoost Comparison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17922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other gradient boosting frameworks.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57984"/>
            <a:ext cx="3977640" cy="585216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237744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22219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&amp; Bureau Balance Data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02352" y="246888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Kaggle supplementary tables for richer features.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2834640"/>
            <a:ext cx="3977640" cy="58521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28032" y="3054096"/>
            <a:ext cx="146304" cy="14630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28986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(TabNet)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02352" y="31455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deep learning on structured tabular banking data.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11296"/>
            <a:ext cx="3977640" cy="585216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73075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5753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Deployment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02352" y="38221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REST service for production banking systems.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54880" y="4187952"/>
            <a:ext cx="3977640" cy="585216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28032" y="440740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425196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Audit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02352" y="449884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analysis across gender and family status.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200400" y="2304288"/>
            <a:ext cx="27432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50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Risk Classification for Banking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944368"/>
            <a:ext cx="173736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944368"/>
            <a:ext cx="1737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35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511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944368"/>
            <a:ext cx="173736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944368"/>
            <a:ext cx="17373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035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3511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944368"/>
            <a:ext cx="173736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944368"/>
            <a:ext cx="17373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035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3511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944368"/>
            <a:ext cx="173736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944368"/>
            <a:ext cx="17373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035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37960" y="35112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Recall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069080"/>
            <a:ext cx="8321040" cy="20117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github.com/nivedhpdds25/Loan-Default-Risk-Classification-ML-Model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Scikit-learn  ·  LightGBM  ·  SMOTE  ·  SHAP  ·  Streamlit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2026-05-16T05:10:14Z</dcterms:created>
  <dcterms:modified xsi:type="dcterms:W3CDTF">2026-05-16T05:10:14Z</dcterms:modified>
</cp:coreProperties>
</file>